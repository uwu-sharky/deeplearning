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66" r:id="rId8"/>
    <p:sldId id="260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9814" y="2469763"/>
            <a:ext cx="11201881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rPr lang="ru-RU" dirty="0"/>
              <a:t>Моделирование поведения </a:t>
            </a:r>
            <a:r>
              <a:rPr lang="en-US" dirty="0"/>
              <a:t>RL </a:t>
            </a:r>
            <a:r>
              <a:rPr lang="ru-RU" dirty="0"/>
              <a:t>агента в стохастической среде</a:t>
            </a:r>
          </a:p>
          <a:p>
            <a:pPr>
              <a:spcBef>
                <a:spcPts val="2000"/>
              </a:spcBef>
              <a:defRPr sz="2200">
                <a:solidFill>
                  <a:srgbClr val="0D9488"/>
                </a:solidFill>
              </a:defRPr>
            </a:pPr>
            <a:r>
              <a:rPr lang="ru-RU" dirty="0"/>
              <a:t>Подготовил: Шмаков Валерий 932301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Постановка задачи и цели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12236"/>
            <a:ext cx="10698480" cy="425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• Создание стохастической среды с заранее заготовленными параметрами.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•  Сравнение трех базовых подходов к планированию и принятию решений.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	1) Агрессивная стратегия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	2) Жадная стратегия (BFS)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	3) Бережливая стратегия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•  Проведение экспериментов и сбор данных 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•  Оценка ключевых метрик: вероятность успешной доставки, количество шагов (скорость) и частота аварий.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6659A30-5C53-72F5-3720-21D3C265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52493"/>
            <a:ext cx="3600000" cy="360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МЕТОДОЛОГИЯ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rPr lang="ru-RU" dirty="0"/>
              <a:t>Архитектура стратегий навигации</a:t>
            </a:r>
          </a:p>
          <a:p>
            <a:pPr>
              <a:defRPr sz="3200" b="1">
                <a:solidFill>
                  <a:srgbClr val="0F172A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463983"/>
            <a:ext cx="10698480" cy="1750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•  1. BFS (Поиск в ширину): Базовый глобальный планировщик, строит кратчайший статический путь с пассивным объездом машин. Он выделяется за счет высокой скорости на свободных участках, но при плотном трафике, он теряет это преимущество.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9AB6-49A4-C46A-8A78-345B9A3E1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74A4BF-AF06-AEF0-4E12-352D432832E1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9A73D-C071-48F3-E94A-59FA80C25ACC}"/>
              </a:ext>
            </a:extLst>
          </p:cNvPr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МЕТОДОЛОГИЯ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02647-790B-4D34-2ADC-A14780DF9A5E}"/>
              </a:ext>
            </a:extLst>
          </p:cNvPr>
          <p:cNvSpPr txBox="1"/>
          <p:nvPr/>
        </p:nvSpPr>
        <p:spPr>
          <a:xfrm>
            <a:off x="731520" y="822960"/>
            <a:ext cx="10515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rPr lang="ru-RU" dirty="0"/>
              <a:t>Архитектура стратегий навигации</a:t>
            </a:r>
          </a:p>
          <a:p>
            <a:pPr>
              <a:defRPr sz="3200" b="1">
                <a:solidFill>
                  <a:srgbClr val="0F172A"/>
                </a:solidFill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20571-E225-6A82-8BC4-DB5B9A3AC988}"/>
              </a:ext>
            </a:extLst>
          </p:cNvPr>
          <p:cNvSpPr txBox="1"/>
          <p:nvPr/>
        </p:nvSpPr>
        <p:spPr>
          <a:xfrm>
            <a:off x="640080" y="1463983"/>
            <a:ext cx="10698480" cy="211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sz="2000" dirty="0"/>
              <a:t>•  2. </a:t>
            </a:r>
            <a:r>
              <a:rPr lang="ru-RU" sz="2000" dirty="0" err="1"/>
              <a:t>Careful</a:t>
            </a:r>
            <a:r>
              <a:rPr lang="ru-RU" sz="2000" dirty="0"/>
              <a:t> (Осторожная стратегия): Алгоритм </a:t>
            </a:r>
            <a:r>
              <a:rPr lang="ru-RU" sz="2000" dirty="0" err="1"/>
              <a:t>Дейкстры</a:t>
            </a:r>
            <a:r>
              <a:rPr lang="ru-RU" sz="2000" dirty="0"/>
              <a:t> с буферной зоной безопасности вокруг автомобилей, минимизирующий риски столкновений. Он достигает </a:t>
            </a:r>
            <a:r>
              <a:rPr lang="ru-RU" dirty="0"/>
              <a:t>максимальную вероятность успешного прохождения за счет заблаговременного обхода опасных зон, но требует больше всего времени.</a:t>
            </a:r>
            <a:endParaRPr lang="ru-RU" sz="2000" dirty="0"/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BCF9B7-7C4A-C68A-0435-69C1671B4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58212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2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0F494-F72C-884C-9179-E5598E17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A980C-94CA-CFE1-07DD-8979415064CD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F98D9-666C-11C9-84C8-41144DBEEA05}"/>
              </a:ext>
            </a:extLst>
          </p:cNvPr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МЕТОДОЛОГИЯ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CEBE7-CA89-C5F0-CBA4-D0A71418EAB6}"/>
              </a:ext>
            </a:extLst>
          </p:cNvPr>
          <p:cNvSpPr txBox="1"/>
          <p:nvPr/>
        </p:nvSpPr>
        <p:spPr>
          <a:xfrm>
            <a:off x="731520" y="822960"/>
            <a:ext cx="10515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rPr lang="ru-RU" dirty="0"/>
              <a:t>Архитектура стратегий навигации</a:t>
            </a:r>
          </a:p>
          <a:p>
            <a:pPr>
              <a:defRPr sz="3200" b="1">
                <a:solidFill>
                  <a:srgbClr val="0F172A"/>
                </a:solidFill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C4AE0-F4B0-9EB1-C27C-76B68683073B}"/>
              </a:ext>
            </a:extLst>
          </p:cNvPr>
          <p:cNvSpPr txBox="1"/>
          <p:nvPr/>
        </p:nvSpPr>
        <p:spPr>
          <a:xfrm>
            <a:off x="640080" y="1463983"/>
            <a:ext cx="10698480" cy="1750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sz="2000" dirty="0"/>
              <a:t>•  3. </a:t>
            </a:r>
            <a:r>
              <a:rPr lang="ru-RU" sz="2000" dirty="0" err="1"/>
              <a:t>Aggressive</a:t>
            </a:r>
            <a:r>
              <a:rPr lang="ru-RU" sz="2000" dirty="0"/>
              <a:t> (Агрессивная стратегия): Жадный поиск по кратчайшему расстоянию, игнорирующий трафик для достижения максимальной скорости. Достигает </a:t>
            </a:r>
            <a:r>
              <a:rPr lang="ru-RU" dirty="0"/>
              <a:t>минимальное время в успешных эпизодах, но высокий уровень аварийности из-за езды напролом.</a:t>
            </a:r>
            <a:endParaRPr lang="ru-RU" sz="2000" dirty="0"/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A0572D-10DB-AC61-43C6-ECAB5710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1029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72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6259A-4CA5-DEDD-EC7C-1CB0C09F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CCF1D7-9B43-7AA5-F033-17F875759492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9DCB3-D76F-BC3F-47B2-72D4CA0AD14E}"/>
              </a:ext>
            </a:extLst>
          </p:cNvPr>
          <p:cNvSpPr txBox="1"/>
          <p:nvPr/>
        </p:nvSpPr>
        <p:spPr>
          <a:xfrm>
            <a:off x="731520" y="457200"/>
            <a:ext cx="16818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rPr lang="ru-RU" dirty="0"/>
              <a:t>Анализ и сбор данных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98226-AE54-A053-CEE6-25893EC1F5CD}"/>
              </a:ext>
            </a:extLst>
          </p:cNvPr>
          <p:cNvSpPr txBox="1"/>
          <p:nvPr/>
        </p:nvSpPr>
        <p:spPr>
          <a:xfrm>
            <a:off x="731520" y="82296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rPr lang="ru-RU" dirty="0"/>
              <a:t>Диаграммы размаха для шагов до успеха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B58BA0-B250-CC3B-5E55-075B095E9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496"/>
            <a:ext cx="12192000" cy="403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76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11DF-65D0-510C-0C9E-4101F7F8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F3C3C1-16AC-01AF-1D4C-2528A3EC04B2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E675C-932B-A2BC-4BAF-7ECC8AD1F691}"/>
              </a:ext>
            </a:extLst>
          </p:cNvPr>
          <p:cNvSpPr txBox="1"/>
          <p:nvPr/>
        </p:nvSpPr>
        <p:spPr>
          <a:xfrm>
            <a:off x="731520" y="457200"/>
            <a:ext cx="16818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rPr lang="ru-RU" dirty="0"/>
              <a:t>Анализ и сбор данных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6AEC0-F4A3-18CB-91C4-621D5B7B9A5F}"/>
              </a:ext>
            </a:extLst>
          </p:cNvPr>
          <p:cNvSpPr txBox="1"/>
          <p:nvPr/>
        </p:nvSpPr>
        <p:spPr>
          <a:xfrm>
            <a:off x="731520" y="82296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rPr lang="ru-RU" dirty="0"/>
              <a:t>Диаграммы размаха для средних шагов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169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Итоги и выводы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98480" cy="289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•  Выбор стратегии зависит от баланса между приоритетами задачи: безопасность или скорость.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•  </a:t>
            </a:r>
            <a:r>
              <a:rPr lang="ru-RU" dirty="0" err="1"/>
              <a:t>Careful</a:t>
            </a:r>
            <a:r>
              <a:rPr lang="ru-RU" dirty="0"/>
              <a:t> (Осторожная) стратегия показывает наилучший баланс для реальных динамических сред.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r>
              <a:rPr lang="ru-RU" dirty="0"/>
              <a:t>•  Полученные данные подтверждают эффективность гибридного подхода и важность учета зон риска в RL.</a:t>
            </a:r>
          </a:p>
          <a:p>
            <a:pPr>
              <a:lnSpc>
                <a:spcPct val="120000"/>
              </a:lnSpc>
              <a:spcBef>
                <a:spcPts val="1600"/>
              </a:spcBef>
              <a:defRPr sz="2000">
                <a:solidFill>
                  <a:srgbClr val="33415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28ED7BA-F44A-99A9-1BC8-2262E591E333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137DC-99E9-E1C5-EF18-1D2301D6DD13}"/>
              </a:ext>
            </a:extLst>
          </p:cNvPr>
          <p:cNvSpPr txBox="1"/>
          <p:nvPr/>
        </p:nvSpPr>
        <p:spPr>
          <a:xfrm>
            <a:off x="537327" y="2598003"/>
            <a:ext cx="7164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</a:rPr>
              <a:t>Спасибо за внимание !</a:t>
            </a:r>
          </a:p>
        </p:txBody>
      </p:sp>
    </p:spTree>
    <p:extLst>
      <p:ext uri="{BB962C8B-B14F-4D97-AF65-F5344CB8AC3E}">
        <p14:creationId xmlns:p14="http://schemas.microsoft.com/office/powerpoint/2010/main" val="1259654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280</Words>
  <Application>Microsoft Office PowerPoint</Application>
  <PresentationFormat>Широкоэкранный</PresentationFormat>
  <Paragraphs>30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Валерий Шмаков</cp:lastModifiedBy>
  <cp:revision>4</cp:revision>
  <dcterms:created xsi:type="dcterms:W3CDTF">2013-01-27T09:14:16Z</dcterms:created>
  <dcterms:modified xsi:type="dcterms:W3CDTF">2026-10-13T15:28:28Z</dcterms:modified>
  <cp:category/>
</cp:coreProperties>
</file>